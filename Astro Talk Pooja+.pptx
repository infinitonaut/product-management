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strument Sans Medium"/>
      <p:regular r:id="rId14"/>
      <p:bold r:id="rId15"/>
      <p:italic r:id="rId16"/>
      <p:boldItalic r:id="rId17"/>
    </p:embeddedFont>
    <p:embeddedFont>
      <p:font typeface="Instrument Sans SemiBold"/>
      <p:regular r:id="rId18"/>
      <p:bold r:id="rId19"/>
      <p:italic r:id="rId20"/>
      <p:boldItalic r:id="rId21"/>
    </p:embeddedFont>
    <p:embeddedFont>
      <p:font typeface="Outfit"/>
      <p:regular r:id="rId22"/>
      <p:bold r:id="rId23"/>
    </p:embeddedFont>
    <p:embeddedFont>
      <p:font typeface="Instrument Sans"/>
      <p:regular r:id="rId24"/>
      <p:bold r:id="rId25"/>
      <p:italic r:id="rId26"/>
      <p:boldItalic r:id="rId27"/>
    </p:embeddedFont>
    <p:embeddedFont>
      <p:font typeface="Outfit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InstrumentSansSemiBold-italic.fntdata"/><Relationship Id="rId22" Type="http://schemas.openxmlformats.org/officeDocument/2006/relationships/font" Target="fonts/Outfit-regular.fntdata"/><Relationship Id="rId21" Type="http://schemas.openxmlformats.org/officeDocument/2006/relationships/font" Target="fonts/InstrumentSansSemiBold-boldItalic.fntdata"/><Relationship Id="rId24" Type="http://schemas.openxmlformats.org/officeDocument/2006/relationships/font" Target="fonts/InstrumentSans-regular.fntdata"/><Relationship Id="rId23" Type="http://schemas.openxmlformats.org/officeDocument/2006/relationships/font" Target="fonts/Outfit-bold.fntdata"/><Relationship Id="rId26" Type="http://schemas.openxmlformats.org/officeDocument/2006/relationships/font" Target="fonts/InstrumentSans-italic.fntdata"/><Relationship Id="rId25" Type="http://schemas.openxmlformats.org/officeDocument/2006/relationships/font" Target="fonts/InstrumentSans-bold.fntdata"/><Relationship Id="rId28" Type="http://schemas.openxmlformats.org/officeDocument/2006/relationships/font" Target="fonts/OutfitSemiBold-regular.fntdata"/><Relationship Id="rId27" Type="http://schemas.openxmlformats.org/officeDocument/2006/relationships/font" Target="fonts/InstrumentSans-boldItalic.fntdata"/><Relationship Id="rId29" Type="http://schemas.openxmlformats.org/officeDocument/2006/relationships/font" Target="fonts/Outfit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strumentSansMedium-bold.fntdata"/><Relationship Id="rId14" Type="http://schemas.openxmlformats.org/officeDocument/2006/relationships/font" Target="fonts/InstrumentSansMedium-regular.fntdata"/><Relationship Id="rId17" Type="http://schemas.openxmlformats.org/officeDocument/2006/relationships/font" Target="fonts/InstrumentSansMedium-boldItalic.fntdata"/><Relationship Id="rId16" Type="http://schemas.openxmlformats.org/officeDocument/2006/relationships/font" Target="fonts/InstrumentSansMedium-italic.fntdata"/><Relationship Id="rId19" Type="http://schemas.openxmlformats.org/officeDocument/2006/relationships/font" Target="fonts/InstrumentSansSemiBold-bold.fntdata"/><Relationship Id="rId18" Type="http://schemas.openxmlformats.org/officeDocument/2006/relationships/font" Target="fonts/Instrument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ace484a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9ace484a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9ace484ae1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9ace484ae1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ace484ae1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9ace484ae1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ace484ae1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9ace484ae1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9ace484ae1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9ace484ae1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9ace484ae1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9ace484ae1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9ace484ae1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9ace484ae1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9ace484ae1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9ace484ae1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" name="Google Shape;10;p2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" name="Google Shape;24;p4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6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2" name="Google Shape;32;p6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" name="Google Shape;36;p7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7" name="Google Shape;37;p7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8" name="Google Shape;38;p7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9" name="Google Shape;39;p7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0" name="Google Shape;40;p7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1" name="Google Shape;41;p7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" name="Google Shape;42;p7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3" name="Google Shape;43;p7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" name="Google Shape;56;p8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" name="Google Shape;57;p8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" name="Google Shape;58;p8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" name="Google Shape;59;p8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" name="Google Shape;60;p8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8" name="Google Shape;68;p9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9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0" name="Google Shape;70;p9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1" name="Google Shape;71;p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2" name="Google Shape;72;p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80" name="Google Shape;80;p10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11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" name="Google Shape;86;p11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7" name="Google Shape;87;p11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0" name="Google Shape;90;p11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91" name="Google Shape;91;p11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5" name="Google Shape;95;p12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7" name="Google Shape;97;p12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p1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2" name="Google Shape;102;p1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" name="Google Shape;105;p13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" name="Google Shape;106;p13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7" name="Google Shape;107;p13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8" name="Google Shape;108;p13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0" name="Google Shape;110;p13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2" name="Google Shape;112;p13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3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13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" name="Google Shape;121;p14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22" name="Google Shape;122;p14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23" name="Google Shape;123;p14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4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4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4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4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9" name="Google Shape;129;p14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2" name="Google Shape;132;p15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3" name="Google Shape;133;p15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4" name="Google Shape;134;p15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5" name="Google Shape;135;p15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6" name="Google Shape;136;p15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7" name="Google Shape;137;p15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8" name="Google Shape;138;p15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9" name="Google Shape;139;p15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0" name="Google Shape;140;p15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1" name="Google Shape;141;p15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2" name="Google Shape;142;p15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3" name="Google Shape;143;p15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4" name="Google Shape;144;p15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5" name="Google Shape;145;p15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9" name="Google Shape;149;p16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57" name="Google Shape;157;p16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8" name="Google Shape;158;p16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2" name="Google Shape;162;p17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3" name="Google Shape;163;p17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17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5" name="Google Shape;165;p17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17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7" name="Google Shape;167;p17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17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9" name="Google Shape;169;p17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0" name="Google Shape;170;p17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1" name="Google Shape;171;p17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2" name="Google Shape;172;p17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4" name="Google Shape;174;p17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18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18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2" name="Google Shape;182;p18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3" name="Google Shape;183;p18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4" name="Google Shape;184;p18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5" name="Google Shape;185;p18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186" name="Google Shape;186;p1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87" name="Google Shape;187;p1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1" name="Google Shape;191;p19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2" name="Google Shape;192;p19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19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19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6" name="Google Shape;196;p19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19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1" name="Google Shape;201;p19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3" name="Google Shape;203;p19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20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0" name="Google Shape;210;p20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1" name="Google Shape;211;p20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3" name="Google Shape;213;p20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14" name="Google Shape;214;p20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20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9" name="Google Shape;219;p21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1" name="Google Shape;221;p21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4" name="Google Shape;224;p21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2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2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5" name="Google Shape;235;p22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23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9" name="Google Shape;239;p23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23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1" name="Google Shape;241;p23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2" name="Google Shape;242;p23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3" name="Google Shape;243;p23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4" name="Google Shape;244;p23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23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6" name="Google Shape;246;p23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7" name="Google Shape;247;p23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0" name="Google Shape;250;p24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1" name="Google Shape;251;p24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2" name="Google Shape;252;p24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4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4" name="Google Shape;254;p24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5" name="Google Shape;255;p24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56" name="Google Shape;256;p24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7" name="Google Shape;257;p24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8" name="Google Shape;258;p24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9" name="Google Shape;259;p24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0" name="Google Shape;260;p24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1" name="Google Shape;261;p24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264" name="Google Shape;264;p25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25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25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25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25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25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6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6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6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6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26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26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26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26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26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27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287" name="Google Shape;287;p27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8" name="Google Shape;288;p27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27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1" name="Google Shape;291;p27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27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7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4" name="Google Shape;294;p27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27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8" name="Google Shape;298;p28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2" name="Google Shape;302;p28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7" name="Google Shape;307;p28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8" name="Google Shape;308;p28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9" name="Google Shape;309;p28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0" name="Google Shape;310;p28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1" name="Google Shape;311;p28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2" name="Google Shape;312;p28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3" name="Google Shape;313;p28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6" name="Google Shape;3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5" name="Google Shape;33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6" name="Google Shape;33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1" name="Google Shape;3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45" name="Google Shape;345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3" name="Google Shape;35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7" name="Google Shape;357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4" name="Google Shape;364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5" name="Google Shape;365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5" name="Google Shape;375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1" name="Google Shape;381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7" name="Google Shape;3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8" name="Google Shape;388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9" name="Google Shape;389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9" name="Google Shape;399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0" name="Google Shape;400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11" name="Google Shape;411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idx="1" type="subTitle"/>
          </p:nvPr>
        </p:nvSpPr>
        <p:spPr>
          <a:xfrm>
            <a:off x="1008000" y="4285050"/>
            <a:ext cx="20640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Shailesh Kumar Jha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0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AstroTalk Pooja+</a:t>
            </a:r>
            <a:br>
              <a:rPr lang="en" sz="4700">
                <a:latin typeface="Calibri"/>
                <a:ea typeface="Calibri"/>
                <a:cs typeface="Calibri"/>
                <a:sym typeface="Calibri"/>
              </a:rPr>
            </a:br>
            <a:br>
              <a:rPr lang="en" sz="4700">
                <a:latin typeface="Calibri"/>
                <a:ea typeface="Calibri"/>
                <a:cs typeface="Calibri"/>
                <a:sym typeface="Calibri"/>
              </a:rPr>
            </a:b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Integrating Online Pooja and Pandit Booking into a Spiritual Tech Ecosystem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0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18/10/2025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0"/>
          <p:cNvSpPr/>
          <p:nvPr/>
        </p:nvSpPr>
        <p:spPr>
          <a:xfrm>
            <a:off x="6475559" y="4286678"/>
            <a:ext cx="256800" cy="25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descr="Shopping bag icon" id="422" name="Google Shape;422;p50"/>
          <p:cNvSpPr/>
          <p:nvPr/>
        </p:nvSpPr>
        <p:spPr>
          <a:xfrm>
            <a:off x="6547475" y="4339354"/>
            <a:ext cx="113107" cy="131833"/>
          </a:xfrm>
          <a:custGeom>
            <a:rect b="b" l="l" r="r" t="t"/>
            <a:pathLst>
              <a:path extrusionOk="0" h="29642" w="25446">
                <a:moveTo>
                  <a:pt x="12723" y="2798"/>
                </a:moveTo>
                <a:lnTo>
                  <a:pt x="13160" y="2842"/>
                </a:lnTo>
                <a:lnTo>
                  <a:pt x="13598" y="2885"/>
                </a:lnTo>
                <a:lnTo>
                  <a:pt x="13991" y="2973"/>
                </a:lnTo>
                <a:lnTo>
                  <a:pt x="14341" y="3104"/>
                </a:lnTo>
                <a:lnTo>
                  <a:pt x="14734" y="3279"/>
                </a:lnTo>
                <a:lnTo>
                  <a:pt x="15084" y="3498"/>
                </a:lnTo>
                <a:lnTo>
                  <a:pt x="15434" y="3760"/>
                </a:lnTo>
                <a:lnTo>
                  <a:pt x="15740" y="4022"/>
                </a:lnTo>
                <a:lnTo>
                  <a:pt x="16002" y="4372"/>
                </a:lnTo>
                <a:lnTo>
                  <a:pt x="16265" y="4678"/>
                </a:lnTo>
                <a:lnTo>
                  <a:pt x="16483" y="5028"/>
                </a:lnTo>
                <a:lnTo>
                  <a:pt x="16658" y="5421"/>
                </a:lnTo>
                <a:lnTo>
                  <a:pt x="16789" y="5815"/>
                </a:lnTo>
                <a:lnTo>
                  <a:pt x="16877" y="6208"/>
                </a:lnTo>
                <a:lnTo>
                  <a:pt x="16964" y="6602"/>
                </a:lnTo>
                <a:lnTo>
                  <a:pt x="16964" y="7039"/>
                </a:lnTo>
                <a:lnTo>
                  <a:pt x="8482" y="7039"/>
                </a:lnTo>
                <a:lnTo>
                  <a:pt x="8526" y="6602"/>
                </a:lnTo>
                <a:lnTo>
                  <a:pt x="8570" y="6208"/>
                </a:lnTo>
                <a:lnTo>
                  <a:pt x="8657" y="5815"/>
                </a:lnTo>
                <a:lnTo>
                  <a:pt x="8789" y="5421"/>
                </a:lnTo>
                <a:lnTo>
                  <a:pt x="8963" y="5028"/>
                </a:lnTo>
                <a:lnTo>
                  <a:pt x="9182" y="4678"/>
                </a:lnTo>
                <a:lnTo>
                  <a:pt x="9444" y="4372"/>
                </a:lnTo>
                <a:lnTo>
                  <a:pt x="9707" y="4022"/>
                </a:lnTo>
                <a:lnTo>
                  <a:pt x="10056" y="3760"/>
                </a:lnTo>
                <a:lnTo>
                  <a:pt x="10362" y="3498"/>
                </a:lnTo>
                <a:lnTo>
                  <a:pt x="10712" y="3279"/>
                </a:lnTo>
                <a:lnTo>
                  <a:pt x="11106" y="3104"/>
                </a:lnTo>
                <a:lnTo>
                  <a:pt x="11499" y="2973"/>
                </a:lnTo>
                <a:lnTo>
                  <a:pt x="11893" y="2885"/>
                </a:lnTo>
                <a:lnTo>
                  <a:pt x="12286" y="2842"/>
                </a:lnTo>
                <a:lnTo>
                  <a:pt x="12723" y="2798"/>
                </a:lnTo>
                <a:close/>
                <a:moveTo>
                  <a:pt x="5684" y="11280"/>
                </a:moveTo>
                <a:lnTo>
                  <a:pt x="5684" y="11979"/>
                </a:lnTo>
                <a:lnTo>
                  <a:pt x="5816" y="12679"/>
                </a:lnTo>
                <a:lnTo>
                  <a:pt x="5947" y="13378"/>
                </a:lnTo>
                <a:lnTo>
                  <a:pt x="6165" y="13990"/>
                </a:lnTo>
                <a:lnTo>
                  <a:pt x="6471" y="14602"/>
                </a:lnTo>
                <a:lnTo>
                  <a:pt x="6821" y="15171"/>
                </a:lnTo>
                <a:lnTo>
                  <a:pt x="7258" y="15739"/>
                </a:lnTo>
                <a:lnTo>
                  <a:pt x="7739" y="16264"/>
                </a:lnTo>
                <a:lnTo>
                  <a:pt x="8264" y="16744"/>
                </a:lnTo>
                <a:lnTo>
                  <a:pt x="8832" y="17182"/>
                </a:lnTo>
                <a:lnTo>
                  <a:pt x="9401" y="17531"/>
                </a:lnTo>
                <a:lnTo>
                  <a:pt x="10013" y="17837"/>
                </a:lnTo>
                <a:lnTo>
                  <a:pt x="10668" y="18056"/>
                </a:lnTo>
                <a:lnTo>
                  <a:pt x="11324" y="18231"/>
                </a:lnTo>
                <a:lnTo>
                  <a:pt x="12024" y="18318"/>
                </a:lnTo>
                <a:lnTo>
                  <a:pt x="12723" y="18362"/>
                </a:lnTo>
                <a:lnTo>
                  <a:pt x="13467" y="18318"/>
                </a:lnTo>
                <a:lnTo>
                  <a:pt x="14122" y="18231"/>
                </a:lnTo>
                <a:lnTo>
                  <a:pt x="14822" y="18056"/>
                </a:lnTo>
                <a:lnTo>
                  <a:pt x="15434" y="17837"/>
                </a:lnTo>
                <a:lnTo>
                  <a:pt x="16046" y="17531"/>
                </a:lnTo>
                <a:lnTo>
                  <a:pt x="16658" y="17182"/>
                </a:lnTo>
                <a:lnTo>
                  <a:pt x="17183" y="16744"/>
                </a:lnTo>
                <a:lnTo>
                  <a:pt x="17707" y="16264"/>
                </a:lnTo>
                <a:lnTo>
                  <a:pt x="18188" y="15739"/>
                </a:lnTo>
                <a:lnTo>
                  <a:pt x="18625" y="15171"/>
                </a:lnTo>
                <a:lnTo>
                  <a:pt x="18975" y="14602"/>
                </a:lnTo>
                <a:lnTo>
                  <a:pt x="19281" y="13990"/>
                </a:lnTo>
                <a:lnTo>
                  <a:pt x="19500" y="13378"/>
                </a:lnTo>
                <a:lnTo>
                  <a:pt x="19675" y="12679"/>
                </a:lnTo>
                <a:lnTo>
                  <a:pt x="19762" y="11979"/>
                </a:lnTo>
                <a:lnTo>
                  <a:pt x="19806" y="11280"/>
                </a:lnTo>
                <a:lnTo>
                  <a:pt x="16964" y="11280"/>
                </a:lnTo>
                <a:lnTo>
                  <a:pt x="16964" y="11717"/>
                </a:lnTo>
                <a:lnTo>
                  <a:pt x="16877" y="12110"/>
                </a:lnTo>
                <a:lnTo>
                  <a:pt x="16789" y="12547"/>
                </a:lnTo>
                <a:lnTo>
                  <a:pt x="16658" y="12897"/>
                </a:lnTo>
                <a:lnTo>
                  <a:pt x="16483" y="13291"/>
                </a:lnTo>
                <a:lnTo>
                  <a:pt x="16265" y="13640"/>
                </a:lnTo>
                <a:lnTo>
                  <a:pt x="16002" y="13946"/>
                </a:lnTo>
                <a:lnTo>
                  <a:pt x="15740" y="14296"/>
                </a:lnTo>
                <a:lnTo>
                  <a:pt x="15434" y="14558"/>
                </a:lnTo>
                <a:lnTo>
                  <a:pt x="15084" y="14821"/>
                </a:lnTo>
                <a:lnTo>
                  <a:pt x="14734" y="15039"/>
                </a:lnTo>
                <a:lnTo>
                  <a:pt x="14341" y="15214"/>
                </a:lnTo>
                <a:lnTo>
                  <a:pt x="13991" y="15345"/>
                </a:lnTo>
                <a:lnTo>
                  <a:pt x="13598" y="15433"/>
                </a:lnTo>
                <a:lnTo>
                  <a:pt x="13160" y="15520"/>
                </a:lnTo>
                <a:lnTo>
                  <a:pt x="12286" y="15520"/>
                </a:lnTo>
                <a:lnTo>
                  <a:pt x="11893" y="15433"/>
                </a:lnTo>
                <a:lnTo>
                  <a:pt x="11499" y="15345"/>
                </a:lnTo>
                <a:lnTo>
                  <a:pt x="11106" y="15214"/>
                </a:lnTo>
                <a:lnTo>
                  <a:pt x="10712" y="15039"/>
                </a:lnTo>
                <a:lnTo>
                  <a:pt x="10362" y="14821"/>
                </a:lnTo>
                <a:lnTo>
                  <a:pt x="10056" y="14558"/>
                </a:lnTo>
                <a:lnTo>
                  <a:pt x="9707" y="14296"/>
                </a:lnTo>
                <a:lnTo>
                  <a:pt x="9444" y="13946"/>
                </a:lnTo>
                <a:lnTo>
                  <a:pt x="9182" y="13640"/>
                </a:lnTo>
                <a:lnTo>
                  <a:pt x="8963" y="13291"/>
                </a:lnTo>
                <a:lnTo>
                  <a:pt x="8789" y="12897"/>
                </a:lnTo>
                <a:lnTo>
                  <a:pt x="8657" y="12547"/>
                </a:lnTo>
                <a:lnTo>
                  <a:pt x="8570" y="12110"/>
                </a:lnTo>
                <a:lnTo>
                  <a:pt x="8526" y="11717"/>
                </a:lnTo>
                <a:lnTo>
                  <a:pt x="8482" y="11280"/>
                </a:lnTo>
                <a:close/>
                <a:moveTo>
                  <a:pt x="22604" y="9881"/>
                </a:moveTo>
                <a:lnTo>
                  <a:pt x="22604" y="26800"/>
                </a:lnTo>
                <a:lnTo>
                  <a:pt x="2843" y="26800"/>
                </a:lnTo>
                <a:lnTo>
                  <a:pt x="2843" y="9881"/>
                </a:lnTo>
                <a:close/>
                <a:moveTo>
                  <a:pt x="12024" y="0"/>
                </a:moveTo>
                <a:lnTo>
                  <a:pt x="11324" y="131"/>
                </a:lnTo>
                <a:lnTo>
                  <a:pt x="10668" y="262"/>
                </a:lnTo>
                <a:lnTo>
                  <a:pt x="10013" y="481"/>
                </a:lnTo>
                <a:lnTo>
                  <a:pt x="9401" y="787"/>
                </a:lnTo>
                <a:lnTo>
                  <a:pt x="8832" y="1137"/>
                </a:lnTo>
                <a:lnTo>
                  <a:pt x="8264" y="1574"/>
                </a:lnTo>
                <a:lnTo>
                  <a:pt x="7739" y="2055"/>
                </a:lnTo>
                <a:lnTo>
                  <a:pt x="7258" y="2579"/>
                </a:lnTo>
                <a:lnTo>
                  <a:pt x="6821" y="3148"/>
                </a:lnTo>
                <a:lnTo>
                  <a:pt x="6471" y="3716"/>
                </a:lnTo>
                <a:lnTo>
                  <a:pt x="6165" y="4328"/>
                </a:lnTo>
                <a:lnTo>
                  <a:pt x="5947" y="4984"/>
                </a:lnTo>
                <a:lnTo>
                  <a:pt x="5816" y="5640"/>
                </a:lnTo>
                <a:lnTo>
                  <a:pt x="5684" y="6339"/>
                </a:lnTo>
                <a:lnTo>
                  <a:pt x="5684" y="7039"/>
                </a:lnTo>
                <a:lnTo>
                  <a:pt x="2537" y="7039"/>
                </a:lnTo>
                <a:lnTo>
                  <a:pt x="2274" y="7083"/>
                </a:lnTo>
                <a:lnTo>
                  <a:pt x="2012" y="7170"/>
                </a:lnTo>
                <a:lnTo>
                  <a:pt x="1750" y="7257"/>
                </a:lnTo>
                <a:lnTo>
                  <a:pt x="1531" y="7389"/>
                </a:lnTo>
                <a:lnTo>
                  <a:pt x="1269" y="7520"/>
                </a:lnTo>
                <a:lnTo>
                  <a:pt x="1050" y="7695"/>
                </a:lnTo>
                <a:lnTo>
                  <a:pt x="832" y="7869"/>
                </a:lnTo>
                <a:lnTo>
                  <a:pt x="657" y="8088"/>
                </a:lnTo>
                <a:lnTo>
                  <a:pt x="482" y="8307"/>
                </a:lnTo>
                <a:lnTo>
                  <a:pt x="351" y="8525"/>
                </a:lnTo>
                <a:lnTo>
                  <a:pt x="220" y="8788"/>
                </a:lnTo>
                <a:lnTo>
                  <a:pt x="132" y="9050"/>
                </a:lnTo>
                <a:lnTo>
                  <a:pt x="88" y="9312"/>
                </a:lnTo>
                <a:lnTo>
                  <a:pt x="45" y="9575"/>
                </a:lnTo>
                <a:lnTo>
                  <a:pt x="1" y="9881"/>
                </a:lnTo>
                <a:lnTo>
                  <a:pt x="1" y="26800"/>
                </a:lnTo>
                <a:lnTo>
                  <a:pt x="45" y="27106"/>
                </a:lnTo>
                <a:lnTo>
                  <a:pt x="88" y="27368"/>
                </a:lnTo>
                <a:lnTo>
                  <a:pt x="132" y="27631"/>
                </a:lnTo>
                <a:lnTo>
                  <a:pt x="220" y="27893"/>
                </a:lnTo>
                <a:lnTo>
                  <a:pt x="351" y="28155"/>
                </a:lnTo>
                <a:lnTo>
                  <a:pt x="482" y="28374"/>
                </a:lnTo>
                <a:lnTo>
                  <a:pt x="657" y="28592"/>
                </a:lnTo>
                <a:lnTo>
                  <a:pt x="832" y="28811"/>
                </a:lnTo>
                <a:lnTo>
                  <a:pt x="1050" y="29030"/>
                </a:lnTo>
                <a:lnTo>
                  <a:pt x="1269" y="29161"/>
                </a:lnTo>
                <a:lnTo>
                  <a:pt x="1531" y="29336"/>
                </a:lnTo>
                <a:lnTo>
                  <a:pt x="1750" y="29423"/>
                </a:lnTo>
                <a:lnTo>
                  <a:pt x="2012" y="29510"/>
                </a:lnTo>
                <a:lnTo>
                  <a:pt x="2274" y="29598"/>
                </a:lnTo>
                <a:lnTo>
                  <a:pt x="2537" y="29642"/>
                </a:lnTo>
                <a:lnTo>
                  <a:pt x="22910" y="29642"/>
                </a:lnTo>
                <a:lnTo>
                  <a:pt x="23172" y="29598"/>
                </a:lnTo>
                <a:lnTo>
                  <a:pt x="23435" y="29510"/>
                </a:lnTo>
                <a:lnTo>
                  <a:pt x="23697" y="29423"/>
                </a:lnTo>
                <a:lnTo>
                  <a:pt x="23959" y="29336"/>
                </a:lnTo>
                <a:lnTo>
                  <a:pt x="24178" y="29161"/>
                </a:lnTo>
                <a:lnTo>
                  <a:pt x="24396" y="29030"/>
                </a:lnTo>
                <a:lnTo>
                  <a:pt x="24615" y="28811"/>
                </a:lnTo>
                <a:lnTo>
                  <a:pt x="24790" y="28592"/>
                </a:lnTo>
                <a:lnTo>
                  <a:pt x="24965" y="28374"/>
                </a:lnTo>
                <a:lnTo>
                  <a:pt x="25096" y="28155"/>
                </a:lnTo>
                <a:lnTo>
                  <a:pt x="25227" y="27893"/>
                </a:lnTo>
                <a:lnTo>
                  <a:pt x="25314" y="27631"/>
                </a:lnTo>
                <a:lnTo>
                  <a:pt x="25402" y="27368"/>
                </a:lnTo>
                <a:lnTo>
                  <a:pt x="25446" y="27106"/>
                </a:lnTo>
                <a:lnTo>
                  <a:pt x="25446" y="26800"/>
                </a:lnTo>
                <a:lnTo>
                  <a:pt x="25446" y="9881"/>
                </a:lnTo>
                <a:lnTo>
                  <a:pt x="25446" y="9575"/>
                </a:lnTo>
                <a:lnTo>
                  <a:pt x="25402" y="9312"/>
                </a:lnTo>
                <a:lnTo>
                  <a:pt x="25314" y="9050"/>
                </a:lnTo>
                <a:lnTo>
                  <a:pt x="25227" y="8788"/>
                </a:lnTo>
                <a:lnTo>
                  <a:pt x="25096" y="8525"/>
                </a:lnTo>
                <a:lnTo>
                  <a:pt x="24965" y="8307"/>
                </a:lnTo>
                <a:lnTo>
                  <a:pt x="24790" y="8088"/>
                </a:lnTo>
                <a:lnTo>
                  <a:pt x="24615" y="7869"/>
                </a:lnTo>
                <a:lnTo>
                  <a:pt x="24396" y="7695"/>
                </a:lnTo>
                <a:lnTo>
                  <a:pt x="24178" y="7520"/>
                </a:lnTo>
                <a:lnTo>
                  <a:pt x="23959" y="7389"/>
                </a:lnTo>
                <a:lnTo>
                  <a:pt x="23697" y="7257"/>
                </a:lnTo>
                <a:lnTo>
                  <a:pt x="23435" y="7170"/>
                </a:lnTo>
                <a:lnTo>
                  <a:pt x="23172" y="7083"/>
                </a:lnTo>
                <a:lnTo>
                  <a:pt x="22910" y="7039"/>
                </a:lnTo>
                <a:lnTo>
                  <a:pt x="19806" y="7039"/>
                </a:lnTo>
                <a:lnTo>
                  <a:pt x="19762" y="6339"/>
                </a:lnTo>
                <a:lnTo>
                  <a:pt x="19675" y="5640"/>
                </a:lnTo>
                <a:lnTo>
                  <a:pt x="19500" y="4984"/>
                </a:lnTo>
                <a:lnTo>
                  <a:pt x="19281" y="4328"/>
                </a:lnTo>
                <a:lnTo>
                  <a:pt x="18975" y="3716"/>
                </a:lnTo>
                <a:lnTo>
                  <a:pt x="18625" y="3148"/>
                </a:lnTo>
                <a:lnTo>
                  <a:pt x="18188" y="2579"/>
                </a:lnTo>
                <a:lnTo>
                  <a:pt x="17707" y="2055"/>
                </a:lnTo>
                <a:lnTo>
                  <a:pt x="17183" y="1574"/>
                </a:lnTo>
                <a:lnTo>
                  <a:pt x="16658" y="1137"/>
                </a:lnTo>
                <a:lnTo>
                  <a:pt x="16046" y="787"/>
                </a:lnTo>
                <a:lnTo>
                  <a:pt x="15434" y="481"/>
                </a:lnTo>
                <a:lnTo>
                  <a:pt x="14822" y="262"/>
                </a:lnTo>
                <a:lnTo>
                  <a:pt x="14122" y="131"/>
                </a:lnTo>
                <a:lnTo>
                  <a:pt x="134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An abstract texture of raised wave shapes on a white surface. " id="423" name="Google Shape;423;p50"/>
          <p:cNvPicPr preferRelativeResize="0"/>
          <p:nvPr/>
        </p:nvPicPr>
        <p:blipFill rotWithShape="1">
          <a:blip r:embed="rId3">
            <a:alphaModFix amt="50000"/>
          </a:blip>
          <a:srcRect b="0" l="23649" r="43594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"/>
          <p:cNvSpPr/>
          <p:nvPr/>
        </p:nvSpPr>
        <p:spPr>
          <a:xfrm flipH="1">
            <a:off x="3178349" y="38940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1"/>
          <p:cNvSpPr/>
          <p:nvPr/>
        </p:nvSpPr>
        <p:spPr>
          <a:xfrm flipH="1">
            <a:off x="6071924" y="38940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1"/>
          <p:cNvSpPr/>
          <p:nvPr/>
        </p:nvSpPr>
        <p:spPr>
          <a:xfrm flipH="1">
            <a:off x="3178349" y="150637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1"/>
          <p:cNvSpPr/>
          <p:nvPr/>
        </p:nvSpPr>
        <p:spPr>
          <a:xfrm flipH="1">
            <a:off x="6071924" y="150637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1"/>
          <p:cNvSpPr/>
          <p:nvPr/>
        </p:nvSpPr>
        <p:spPr>
          <a:xfrm flipH="1">
            <a:off x="3178349" y="262335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1"/>
          <p:cNvSpPr/>
          <p:nvPr/>
        </p:nvSpPr>
        <p:spPr>
          <a:xfrm flipH="1">
            <a:off x="6071924" y="262335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1"/>
          <p:cNvSpPr/>
          <p:nvPr/>
        </p:nvSpPr>
        <p:spPr>
          <a:xfrm flipH="1">
            <a:off x="3231249" y="389280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1"/>
          <p:cNvSpPr txBox="1"/>
          <p:nvPr>
            <p:ph type="title"/>
          </p:nvPr>
        </p:nvSpPr>
        <p:spPr>
          <a:xfrm>
            <a:off x="284775" y="282900"/>
            <a:ext cx="2787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Contents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1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Customer Segmentation &amp; Behavior Insights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1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1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Problem Identification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1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Target Audience Definition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1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Productization Strategy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1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Differentiators &amp; Feasibility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1"/>
          <p:cNvSpPr txBox="1"/>
          <p:nvPr>
            <p:ph idx="8" type="subTitle"/>
          </p:nvPr>
        </p:nvSpPr>
        <p:spPr>
          <a:xfrm>
            <a:off x="3394900" y="42342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1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1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1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1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1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51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1"/>
          <p:cNvSpPr txBox="1"/>
          <p:nvPr>
            <p:ph idx="19" type="subTitle"/>
          </p:nvPr>
        </p:nvSpPr>
        <p:spPr>
          <a:xfrm>
            <a:off x="3348525" y="39933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08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2"/>
          <p:cNvSpPr txBox="1"/>
          <p:nvPr>
            <p:ph type="ctrTitle"/>
          </p:nvPr>
        </p:nvSpPr>
        <p:spPr>
          <a:xfrm>
            <a:off x="311700" y="282900"/>
            <a:ext cx="8520600" cy="65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Problem Identification</a:t>
            </a:r>
            <a:br>
              <a:rPr lang="en" sz="3000">
                <a:latin typeface="Calibri"/>
                <a:ea typeface="Calibri"/>
                <a:cs typeface="Calibri"/>
                <a:sym typeface="Calibri"/>
              </a:rPr>
            </a:br>
            <a:r>
              <a:rPr lang="en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Title: Bridging the Spiritual Gap in a Digital World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52"/>
          <p:cNvSpPr txBox="1"/>
          <p:nvPr>
            <p:ph idx="1" type="subTitle"/>
          </p:nvPr>
        </p:nvSpPr>
        <p:spPr>
          <a:xfrm>
            <a:off x="311700" y="1399875"/>
            <a:ext cx="8520600" cy="34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today’s fast-paced urban life and for Indians living abroad, performing traditional rituals and accessing trusted spiritual services has become difficult.</a:t>
            </a:r>
            <a:b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Context: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Despite apps like AstroTalk offering astrology consultations, users struggle to find authentic </a:t>
            </a:r>
            <a:r>
              <a:rPr i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Pandits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Pooja materials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i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ritual services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online.</a:t>
            </a:r>
            <a:b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it matters: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Rising digital adoption + spiritual continuity need = untapped market opportunity worth ₹5,000+ crore annually.</a:t>
            </a:r>
            <a:b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Pain Points:</a:t>
            </a:r>
            <a:b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No reliable digital platform for complete pooja arrangements.</a:t>
            </a:r>
            <a:b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Trust and authenticity issues in local service providers.</a:t>
            </a:r>
            <a:b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Lack of convenience and time.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3"/>
          <p:cNvSpPr txBox="1"/>
          <p:nvPr>
            <p:ph type="ctrTitle"/>
          </p:nvPr>
        </p:nvSpPr>
        <p:spPr>
          <a:xfrm>
            <a:off x="311700" y="282900"/>
            <a:ext cx="8520600" cy="65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Target Audience Definition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3"/>
          <p:cNvSpPr txBox="1"/>
          <p:nvPr>
            <p:ph idx="1" type="subTitle"/>
          </p:nvPr>
        </p:nvSpPr>
        <p:spPr>
          <a:xfrm>
            <a:off x="311700" y="938100"/>
            <a:ext cx="8520600" cy="39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Audience: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NRIs (Non-Resident Indians):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Living abroad, desiring to perform poojas or rituals remotely with family in India.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Urban Indians (Tier 1 Cities):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Working professionals with limited time for organizing rituals manually.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Justification:</a:t>
            </a:r>
            <a:b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Both groups are tech-savvy, spiritually rooted, and have disposable income to spend on convenience-based spiritual services.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4"/>
          <p:cNvSpPr txBox="1"/>
          <p:nvPr>
            <p:ph type="ctrTitle"/>
          </p:nvPr>
        </p:nvSpPr>
        <p:spPr>
          <a:xfrm>
            <a:off x="311700" y="282900"/>
            <a:ext cx="8520600" cy="65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54"/>
          <p:cNvSpPr txBox="1"/>
          <p:nvPr>
            <p:ph idx="1" type="subTitle"/>
          </p:nvPr>
        </p:nvSpPr>
        <p:spPr>
          <a:xfrm>
            <a:off x="311700" y="1044600"/>
            <a:ext cx="8520600" cy="40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Name: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AstroTalk Pooja+</a:t>
            </a:r>
            <a:br>
              <a:rPr i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Offerings: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Pooja Store: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Curated, verified sellers for spiritual items (rudraksha, diyas, samagri kits).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Pandit Booking Service: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Online scheduling and live-streamed rituals by verified priests.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Pooja Packages: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Bundled by region, purpose (health, prosperity, marriage, etc.).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One-stop digital spiritual ecosystem.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Trusted network of verified pandits.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Convenience + cultural authenticity.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5"/>
          <p:cNvSpPr txBox="1"/>
          <p:nvPr>
            <p:ph type="ctrTitle"/>
          </p:nvPr>
        </p:nvSpPr>
        <p:spPr>
          <a:xfrm>
            <a:off x="364600" y="282900"/>
            <a:ext cx="8520600" cy="65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Productization Strategy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55"/>
          <p:cNvSpPr txBox="1"/>
          <p:nvPr>
            <p:ph idx="1" type="subTitle"/>
          </p:nvPr>
        </p:nvSpPr>
        <p:spPr>
          <a:xfrm>
            <a:off x="311700" y="1191275"/>
            <a:ext cx="8520600" cy="36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 integration within AstroTalk app.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Feature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Pandit Booking System: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Filters by language, ritual type, rating.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E-commerce Integration: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 ordering of pooja kits.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Pooja Streaming: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Remote participation for NRIs.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 Gateway: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Secure cross-border payments (UPI, Stripe).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Proposition: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“Authentic Pooja, Anytime, Anywhere.”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Monetization: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Commission on bookings (10–15%), product margins (20%), subscription plans for premium users.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Expand to regional languages, integrate with temples for live darshan, and partner with logistics for quick deliveries.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6"/>
          <p:cNvSpPr txBox="1"/>
          <p:nvPr>
            <p:ph type="ctrTitle"/>
          </p:nvPr>
        </p:nvSpPr>
        <p:spPr>
          <a:xfrm>
            <a:off x="311700" y="389400"/>
            <a:ext cx="8520600" cy="65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Differentiators &amp; Feasibility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6"/>
          <p:cNvSpPr txBox="1"/>
          <p:nvPr>
            <p:ph idx="1" type="subTitle"/>
          </p:nvPr>
        </p:nvSpPr>
        <p:spPr>
          <a:xfrm>
            <a:off x="311700" y="1399875"/>
            <a:ext cx="8520600" cy="34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Differentiators: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spiritual ecosystem (consult + pooja + store).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Verified priests and authentic supplies.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NRI-friendly logistics and time zone support.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Feasibility: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existing AstroTalk user base (~20M+ users).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API-based marketplace integration.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Partnerships with logistics and verified temple networks.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type="ctrTitle"/>
          </p:nvPr>
        </p:nvSpPr>
        <p:spPr>
          <a:xfrm>
            <a:off x="311700" y="389400"/>
            <a:ext cx="8520600" cy="65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7"/>
          <p:cNvSpPr txBox="1"/>
          <p:nvPr>
            <p:ph idx="1" type="subTitle"/>
          </p:nvPr>
        </p:nvSpPr>
        <p:spPr>
          <a:xfrm>
            <a:off x="311700" y="1399875"/>
            <a:ext cx="8520600" cy="34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Vision: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preserve India’s spiritual roots while embracing digital transformation — connecting devotees, priests, and pooja essentials in one unified, trusted ecosystem.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“AstroTalk Pooja+ transforms faith into experience — authentic, accessible, and global.”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